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1A17"/>
          </a:solidFill>
          <a:ln/>
        </p:spPr>
      </p:sp>
      <p:sp>
        <p:nvSpPr>
          <p:cNvPr id="3" name="Shape 1"/>
          <p:cNvSpPr/>
          <p:nvPr/>
        </p:nvSpPr>
        <p:spPr>
          <a:xfrm>
            <a:off x="502920" y="292608"/>
            <a:ext cx="164592" cy="164592"/>
          </a:xfrm>
          <a:prstGeom prst="ellipse">
            <a:avLst/>
          </a:prstGeom>
          <a:solidFill>
            <a:srgbClr val="FF6700"/>
          </a:solidFill>
          <a:ln w="12700">
            <a:solidFill>
              <a:srgbClr val="FF67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7240" y="237744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SEJIRE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8412480" y="256032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8B0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Investor deck · 2026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40080" y="1463040"/>
            <a:ext cx="10972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spc="-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SEJIRE</a:t>
            </a:r>
            <a:endParaRPr lang="en-US" sz="6000" dirty="0"/>
          </a:p>
        </p:txBody>
      </p:sp>
      <p:sp>
        <p:nvSpPr>
          <p:cNvPr id="7" name="Text 5"/>
          <p:cNvSpPr/>
          <p:nvPr/>
        </p:nvSpPr>
        <p:spPr>
          <a:xfrm>
            <a:off x="640080" y="2606040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Сначала бесплатно.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640080" y="3154680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6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Потом — навсегда.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640080" y="393192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8B0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Шежіре для всей семьи.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B8B0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Arweave — когда нужно, не когда «обязательно».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0080" y="61264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6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Казахстан → мир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1EC"/>
          </a:solidFill>
          <a:ln/>
        </p:spPr>
      </p:sp>
      <p:sp>
        <p:nvSpPr>
          <p:cNvPr id="3" name="Shape 1"/>
          <p:cNvSpPr/>
          <p:nvPr/>
        </p:nvSpPr>
        <p:spPr>
          <a:xfrm>
            <a:off x="502920" y="292608"/>
            <a:ext cx="164592" cy="164592"/>
          </a:xfrm>
          <a:prstGeom prst="ellipse">
            <a:avLst/>
          </a:prstGeom>
          <a:solidFill>
            <a:srgbClr val="FF6700"/>
          </a:solidFill>
          <a:ln w="12700">
            <a:solidFill>
              <a:srgbClr val="FF67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7240" y="237744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1412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SEJIRE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8412480" y="256032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55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Investor deck · 2026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40080" y="10058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6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00 · СТАВКА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1463040"/>
            <a:ext cx="100584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412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Чужая компания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1412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 должна владеть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1412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вашими предками.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640080" y="4297680"/>
            <a:ext cx="10058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A55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Ancestry и MyHeritage держат историю рода на своих серверах — пока платите. SEJIRE отдаёт память семье: 12 слов, шифр на устройстве, Arweave на века.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1EC"/>
          </a:solidFill>
          <a:ln/>
        </p:spPr>
      </p:sp>
      <p:sp>
        <p:nvSpPr>
          <p:cNvPr id="3" name="Shape 1"/>
          <p:cNvSpPr/>
          <p:nvPr/>
        </p:nvSpPr>
        <p:spPr>
          <a:xfrm>
            <a:off x="502920" y="292608"/>
            <a:ext cx="164592" cy="164592"/>
          </a:xfrm>
          <a:prstGeom prst="ellipse">
            <a:avLst/>
          </a:prstGeom>
          <a:solidFill>
            <a:srgbClr val="FF6700"/>
          </a:solidFill>
          <a:ln w="12700">
            <a:solidFill>
              <a:srgbClr val="FF67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7240" y="237744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1412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SEJIRE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8412480" y="256032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55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Investor deck · 2026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40080" y="91440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6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· ПРОБЛЕМА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1280160"/>
            <a:ext cx="10058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12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Род размазан по чатам,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1412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Excel и чужим облакам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640080" y="256032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6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371600" y="256032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2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Сложно начать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371600" y="2852928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55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Генеалогия перегружена. Людям нужен старт с себя — не с диссертации.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" y="342900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6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371600" y="342900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2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Нечем поделиться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371600" y="3721608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55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PDF на стену, письмо родным, распечатка на той — без подписки.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40080" y="429768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6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371600" y="42976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2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Данные не ваши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371600" y="4590288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55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История живёт, пока жива компания и ваш тариф.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0080" y="516636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6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371600" y="51663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2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Вечность закрыта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371600" y="5458968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55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Permaweb умеет хранить века. Обычная семья не покупает токены.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6700"/>
          </a:solidFill>
          <a:ln/>
        </p:spPr>
      </p:sp>
      <p:sp>
        <p:nvSpPr>
          <p:cNvPr id="3" name="Shape 1"/>
          <p:cNvSpPr/>
          <p:nvPr/>
        </p:nvSpPr>
        <p:spPr>
          <a:xfrm>
            <a:off x="502920" y="292608"/>
            <a:ext cx="164592" cy="164592"/>
          </a:xfrm>
          <a:prstGeom prst="ellipse">
            <a:avLst/>
          </a:prstGeom>
          <a:solidFill>
            <a:srgbClr val="FF6700"/>
          </a:solidFill>
          <a:ln w="12700">
            <a:solidFill>
              <a:srgbClr val="FF67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7240" y="237744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SEJIRE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8412480" y="256032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E8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Investor deck · 2026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40080" y="10972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· ИНСАЙТ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1645920"/>
            <a:ext cx="100584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Жеті ата —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готовый клин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рынок.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640080" y="4572000"/>
            <a:ext cx="10515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Казахстане знание семи колен — норма, а не «надо объяснять зачем». Один PDF уходит в чат рода — следующие приходят сами. Культурный продукт бьёт универсальный «family tree».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1EC"/>
          </a:solidFill>
          <a:ln/>
        </p:spPr>
      </p:sp>
      <p:sp>
        <p:nvSpPr>
          <p:cNvPr id="3" name="Shape 1"/>
          <p:cNvSpPr/>
          <p:nvPr/>
        </p:nvSpPr>
        <p:spPr>
          <a:xfrm>
            <a:off x="502920" y="292608"/>
            <a:ext cx="164592" cy="164592"/>
          </a:xfrm>
          <a:prstGeom prst="ellipse">
            <a:avLst/>
          </a:prstGeom>
          <a:solidFill>
            <a:srgbClr val="FF6700"/>
          </a:solidFill>
          <a:ln w="12700">
            <a:solidFill>
              <a:srgbClr val="FF67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7240" y="237744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1412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SEJIRE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8412480" y="256032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55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Investor deck · 2026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40080" y="91440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6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· РЕШЕНИЕ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1280160"/>
            <a:ext cx="10058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12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SEJIRE — шежіре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1412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для всей семьи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640080" y="2560320"/>
            <a:ext cx="3520440" cy="2286000"/>
          </a:xfrm>
          <a:prstGeom prst="rect">
            <a:avLst/>
          </a:prstGeom>
          <a:solidFill>
            <a:srgbClr val="EBE7DF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269748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68680" y="306324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2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Начать с себя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68680" y="3611880"/>
            <a:ext cx="30175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55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Мама, папа, дети — карточками «+». Черновик сам живёт в браузере.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389120" y="2560320"/>
            <a:ext cx="3520440" cy="2286000"/>
          </a:xfrm>
          <a:prstGeom prst="rect">
            <a:avLst/>
          </a:prstGeom>
          <a:solidFill>
            <a:srgbClr val="EBE7DF"/>
          </a:solidFill>
          <a:ln/>
        </p:spPr>
      </p:sp>
      <p:sp>
        <p:nvSpPr>
          <p:cNvPr id="13" name="Text 11"/>
          <p:cNvSpPr/>
          <p:nvPr/>
        </p:nvSpPr>
        <p:spPr>
          <a:xfrm>
            <a:off x="4617720" y="269748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617720" y="306324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2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Скачать PDF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617720" y="3611880"/>
            <a:ext cx="30175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55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Древо или орнаментальное шежіре — почта, печать, той.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138160" y="2560320"/>
            <a:ext cx="3520440" cy="2286000"/>
          </a:xfrm>
          <a:prstGeom prst="rect">
            <a:avLst/>
          </a:prstGeom>
          <a:solidFill>
            <a:srgbClr val="141210"/>
          </a:solidFill>
          <a:ln/>
        </p:spPr>
      </p:sp>
      <p:sp>
        <p:nvSpPr>
          <p:cNvPr id="17" name="Text 15"/>
          <p:cNvSpPr/>
          <p:nvPr/>
        </p:nvSpPr>
        <p:spPr>
          <a:xfrm>
            <a:off x="8366760" y="269748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366760" y="306324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 желанию — навсегда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366760" y="3611880"/>
            <a:ext cx="30175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8B0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слов + оплата ~$3. Без покупки крипты. Шифр → Arweave.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40080" y="521208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6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 ₸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640080" y="562356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55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создать · PDF · шаринг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474720" y="521208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6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~$3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474720" y="562356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55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вечная опция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309360" y="521208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6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200+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6309360" y="562356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55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лет модели Arweave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9144000" y="521208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6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9144000" y="562356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55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слов = ключ семьи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1EC"/>
          </a:solidFill>
          <a:ln/>
        </p:spPr>
      </p:sp>
      <p:sp>
        <p:nvSpPr>
          <p:cNvPr id="3" name="Shape 1"/>
          <p:cNvSpPr/>
          <p:nvPr/>
        </p:nvSpPr>
        <p:spPr>
          <a:xfrm>
            <a:off x="502920" y="292608"/>
            <a:ext cx="164592" cy="164592"/>
          </a:xfrm>
          <a:prstGeom prst="ellipse">
            <a:avLst/>
          </a:prstGeom>
          <a:solidFill>
            <a:srgbClr val="FF6700"/>
          </a:solidFill>
          <a:ln w="12700">
            <a:solidFill>
              <a:srgbClr val="FF67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7240" y="237744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1412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SEJIRE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8412480" y="256032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55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Investor deck · 2026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40080" y="91440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6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· ПРОДУКТ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1371600"/>
            <a:ext cx="45720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12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Так выглядит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1412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память рода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640080" y="2834640"/>
            <a:ext cx="4572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55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Тихий Apple-like UX. Культурные поля — по желанию. Бренд впереди функций.</a:t>
            </a:r>
            <a:endParaRPr lang="en-US" sz="1500" dirty="0"/>
          </a:p>
        </p:txBody>
      </p:sp>
      <p:pic>
        <p:nvPicPr>
          <p:cNvPr id="9" name="Image 0" descr="/workspace/presentation/assets/screens/05-tree-wid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0" y="1188720"/>
            <a:ext cx="5852160" cy="303580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669280" y="4224528"/>
            <a:ext cx="5852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55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Древо · живой черновик</a:t>
            </a:r>
            <a:endParaRPr lang="en-US" sz="1000" dirty="0"/>
          </a:p>
        </p:txBody>
      </p:sp>
      <p:pic>
        <p:nvPicPr>
          <p:cNvPr id="11" name="Image 1" descr="/workspace/presentation/assets/screens/01-welcom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0" y="4663440"/>
            <a:ext cx="2788920" cy="129844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669280" y="5961888"/>
            <a:ext cx="2788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55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Вход — только SEJIRE</a:t>
            </a:r>
            <a:endParaRPr lang="en-US" sz="1000" dirty="0"/>
          </a:p>
        </p:txBody>
      </p:sp>
      <p:pic>
        <p:nvPicPr>
          <p:cNvPr id="13" name="Image 2" descr="/workspace/presentation/assets/screens/04-tree-famil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41080" y="4663440"/>
            <a:ext cx="2880360" cy="129844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641080" y="5961888"/>
            <a:ext cx="2880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55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Профиль · автосейв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1EC"/>
          </a:solidFill>
          <a:ln/>
        </p:spPr>
      </p:sp>
      <p:sp>
        <p:nvSpPr>
          <p:cNvPr id="3" name="Shape 1"/>
          <p:cNvSpPr/>
          <p:nvPr/>
        </p:nvSpPr>
        <p:spPr>
          <a:xfrm>
            <a:off x="502920" y="292608"/>
            <a:ext cx="164592" cy="164592"/>
          </a:xfrm>
          <a:prstGeom prst="ellipse">
            <a:avLst/>
          </a:prstGeom>
          <a:solidFill>
            <a:srgbClr val="FF6700"/>
          </a:solidFill>
          <a:ln w="12700">
            <a:solidFill>
              <a:srgbClr val="FF67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7240" y="237744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1412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SEJIRE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8412480" y="256032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55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Investor deck · 2026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40080" y="91440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6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· БЕСПЛАТНЫЙ СЛОЙ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1280160"/>
            <a:ext cx="10058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12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Платить не нужно,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1412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чтобы пользоваться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640080" y="246888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55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Карта и крипта — только если хотите вечную копию. Весь повседневный цикл рода — бесплатно и навсегда в этом слое.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40080" y="3291840"/>
            <a:ext cx="2651760" cy="1828800"/>
          </a:xfrm>
          <a:prstGeom prst="rect">
            <a:avLst/>
          </a:prstGeom>
          <a:solidFill>
            <a:srgbClr val="EBE7DF"/>
          </a:solidFill>
          <a:ln/>
        </p:spPr>
      </p:sp>
      <p:sp>
        <p:nvSpPr>
          <p:cNvPr id="10" name="Shape 8"/>
          <p:cNvSpPr/>
          <p:nvPr/>
        </p:nvSpPr>
        <p:spPr>
          <a:xfrm>
            <a:off x="640080" y="3291840"/>
            <a:ext cx="2651760" cy="73152"/>
          </a:xfrm>
          <a:prstGeom prst="rect">
            <a:avLst/>
          </a:prstGeom>
          <a:solidFill>
            <a:srgbClr val="FF6700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356616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2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Создать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22960" y="402336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55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Открыл сайт — строишь дерево.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474720" y="3291840"/>
            <a:ext cx="2651760" cy="1828800"/>
          </a:xfrm>
          <a:prstGeom prst="rect">
            <a:avLst/>
          </a:prstGeom>
          <a:solidFill>
            <a:srgbClr val="EBE7DF"/>
          </a:solidFill>
          <a:ln/>
        </p:spPr>
      </p:sp>
      <p:sp>
        <p:nvSpPr>
          <p:cNvPr id="14" name="Shape 12"/>
          <p:cNvSpPr/>
          <p:nvPr/>
        </p:nvSpPr>
        <p:spPr>
          <a:xfrm>
            <a:off x="3474720" y="3291840"/>
            <a:ext cx="2651760" cy="73152"/>
          </a:xfrm>
          <a:prstGeom prst="rect">
            <a:avLst/>
          </a:prstGeom>
          <a:solidFill>
            <a:srgbClr val="FF6700"/>
          </a:solidFill>
          <a:ln/>
        </p:spPr>
      </p:sp>
      <p:sp>
        <p:nvSpPr>
          <p:cNvPr id="15" name="Text 13"/>
          <p:cNvSpPr/>
          <p:nvPr/>
        </p:nvSpPr>
        <p:spPr>
          <a:xfrm>
            <a:off x="3657600" y="356616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2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Сохранить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657600" y="402336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55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Черновик в браузере. Без аккаунта.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309360" y="3291840"/>
            <a:ext cx="2651760" cy="1828800"/>
          </a:xfrm>
          <a:prstGeom prst="rect">
            <a:avLst/>
          </a:prstGeom>
          <a:solidFill>
            <a:srgbClr val="EBE7DF"/>
          </a:solidFill>
          <a:ln/>
        </p:spPr>
      </p:sp>
      <p:sp>
        <p:nvSpPr>
          <p:cNvPr id="18" name="Shape 16"/>
          <p:cNvSpPr/>
          <p:nvPr/>
        </p:nvSpPr>
        <p:spPr>
          <a:xfrm>
            <a:off x="6309360" y="3291840"/>
            <a:ext cx="2651760" cy="73152"/>
          </a:xfrm>
          <a:prstGeom prst="rect">
            <a:avLst/>
          </a:prstGeom>
          <a:solidFill>
            <a:srgbClr val="FF6700"/>
          </a:solidFill>
          <a:ln/>
        </p:spPr>
      </p:sp>
      <p:sp>
        <p:nvSpPr>
          <p:cNvPr id="19" name="Text 17"/>
          <p:cNvSpPr/>
          <p:nvPr/>
        </p:nvSpPr>
        <p:spPr>
          <a:xfrm>
            <a:off x="6492240" y="356616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2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PDF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492240" y="402336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55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Древо и жеті ата / шежіре.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9144000" y="3291840"/>
            <a:ext cx="2651760" cy="1828800"/>
          </a:xfrm>
          <a:prstGeom prst="rect">
            <a:avLst/>
          </a:prstGeom>
          <a:solidFill>
            <a:srgbClr val="EBE7DF"/>
          </a:solidFill>
          <a:ln/>
        </p:spPr>
      </p:sp>
      <p:sp>
        <p:nvSpPr>
          <p:cNvPr id="22" name="Shape 20"/>
          <p:cNvSpPr/>
          <p:nvPr/>
        </p:nvSpPr>
        <p:spPr>
          <a:xfrm>
            <a:off x="9144000" y="3291840"/>
            <a:ext cx="2651760" cy="73152"/>
          </a:xfrm>
          <a:prstGeom prst="rect">
            <a:avLst/>
          </a:prstGeom>
          <a:solidFill>
            <a:srgbClr val="FF6700"/>
          </a:solidFill>
          <a:ln/>
        </p:spPr>
      </p:sp>
      <p:sp>
        <p:nvSpPr>
          <p:cNvPr id="23" name="Text 21"/>
          <p:cNvSpPr/>
          <p:nvPr/>
        </p:nvSpPr>
        <p:spPr>
          <a:xfrm>
            <a:off x="9326880" y="356616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2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Шаринг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9326880" y="402336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55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Почта, файл, печать на стену.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1A17"/>
          </a:solidFill>
          <a:ln/>
        </p:spPr>
      </p:sp>
      <p:sp>
        <p:nvSpPr>
          <p:cNvPr id="3" name="Shape 1"/>
          <p:cNvSpPr/>
          <p:nvPr/>
        </p:nvSpPr>
        <p:spPr>
          <a:xfrm>
            <a:off x="502920" y="292608"/>
            <a:ext cx="164592" cy="164592"/>
          </a:xfrm>
          <a:prstGeom prst="ellipse">
            <a:avLst/>
          </a:prstGeom>
          <a:solidFill>
            <a:srgbClr val="FF6700"/>
          </a:solidFill>
          <a:ln w="12700">
            <a:solidFill>
              <a:srgbClr val="FF67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7240" y="237744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SEJIRE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8412480" y="256032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8B0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Investor deck · 2026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40080" y="91440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6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· ОПЦИЯ ВЕЧНОСТИ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1325880"/>
            <a:ext cx="10058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Зафиксировать род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 200+ лет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640080" y="2834640"/>
            <a:ext cx="3520440" cy="2286000"/>
          </a:xfrm>
          <a:prstGeom prst="rect">
            <a:avLst/>
          </a:prstGeom>
          <a:solidFill>
            <a:srgbClr val="2A2622"/>
          </a:solidFill>
          <a:ln w="12700">
            <a:solidFill>
              <a:srgbClr val="3A342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301752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Ключ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68680" y="338328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слов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868680" y="3931920"/>
            <a:ext cx="3017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8B0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BIP-39. Seed не уходит на сервер. Открыть сейф — только у семьи.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389120" y="2834640"/>
            <a:ext cx="3520440" cy="2286000"/>
          </a:xfrm>
          <a:prstGeom prst="rect">
            <a:avLst/>
          </a:prstGeom>
          <a:solidFill>
            <a:srgbClr val="2A2622"/>
          </a:solidFill>
          <a:ln w="12700">
            <a:solidFill>
              <a:srgbClr val="3A342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17720" y="301752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Оплата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617720" y="338328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~$3 фиатом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4617720" y="3931920"/>
            <a:ext cx="3017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8B0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Kaspi / карта. Пользователь не покупает AR. Сеть платит казна SEJIRE.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138160" y="2834640"/>
            <a:ext cx="3520440" cy="2286000"/>
          </a:xfrm>
          <a:prstGeom prst="rect">
            <a:avLst/>
          </a:prstGeom>
          <a:solidFill>
            <a:srgbClr val="2A2622"/>
          </a:solidFill>
          <a:ln w="12700">
            <a:solidFill>
              <a:srgbClr val="3A342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366760" y="301752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Хранение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366760" y="338328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Arweave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8366760" y="3931920"/>
            <a:ext cx="3017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8B0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AES-GCM ciphertext. Endowment-модель. Неизменяемый снимок рода.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40080" y="54864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8B0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Обязательно? Нет.  ·  Крипта у юзера? 0.  ·  Аккаунт SEJIRE? Не нужен.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1EC"/>
          </a:solidFill>
          <a:ln/>
        </p:spPr>
      </p:sp>
      <p:sp>
        <p:nvSpPr>
          <p:cNvPr id="3" name="Shape 1"/>
          <p:cNvSpPr/>
          <p:nvPr/>
        </p:nvSpPr>
        <p:spPr>
          <a:xfrm>
            <a:off x="502920" y="292608"/>
            <a:ext cx="164592" cy="164592"/>
          </a:xfrm>
          <a:prstGeom prst="ellipse">
            <a:avLst/>
          </a:prstGeom>
          <a:solidFill>
            <a:srgbClr val="FF6700"/>
          </a:solidFill>
          <a:ln w="12700">
            <a:solidFill>
              <a:srgbClr val="FF67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7240" y="237744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1412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SEJIRE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8412480" y="256032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55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Investor deck · 2026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40080" y="91440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6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· ПОЧЕМУ МЫ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1234440"/>
            <a:ext cx="100584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12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 Ancestry.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1412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 DeepFamily.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1412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SEJIRE.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640080" y="3017520"/>
            <a:ext cx="3520440" cy="2468880"/>
          </a:xfrm>
          <a:prstGeom prst="rect">
            <a:avLst/>
          </a:prstGeom>
          <a:solidFill>
            <a:srgbClr val="EBE7DF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320040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12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Ancestry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68680" y="374904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55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 Подписка и lock-in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68680" y="411480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55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 Данные у компании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68680" y="448056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55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 Нет вечности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68680" y="484632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55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 Запад + ДНК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389120" y="3017520"/>
            <a:ext cx="3520440" cy="2468880"/>
          </a:xfrm>
          <a:prstGeom prst="rect">
            <a:avLst/>
          </a:prstGeom>
          <a:solidFill>
            <a:srgbClr val="EBE7DF"/>
          </a:solidFill>
          <a:ln/>
        </p:spPr>
      </p:sp>
      <p:sp>
        <p:nvSpPr>
          <p:cNvPr id="15" name="Text 13"/>
          <p:cNvSpPr/>
          <p:nvPr/>
        </p:nvSpPr>
        <p:spPr>
          <a:xfrm>
            <a:off x="4617720" y="320040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12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DeepFamily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617720" y="374904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55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 Нужен EVM-кошелёк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617720" y="411480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55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 Не permaweb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617720" y="448056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55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 Crypto-native UX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617720" y="484632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55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 Не шежіре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8138160" y="3017520"/>
            <a:ext cx="3520440" cy="2468880"/>
          </a:xfrm>
          <a:prstGeom prst="rect">
            <a:avLst/>
          </a:prstGeom>
          <a:solidFill>
            <a:srgbClr val="141210"/>
          </a:solidFill>
          <a:ln w="25400">
            <a:solidFill>
              <a:srgbClr val="FF67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366760" y="320040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6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SEJIRE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8366760" y="374904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8B0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 Бесплатный вход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366760" y="411480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8B0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 12 слов у семьи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8366760" y="448056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8B0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 Arweave · опция $3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8366760" y="484632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8B0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 Шежіре / жеті ата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40080" y="57607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2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 Arweave живого аналога шежіре нет. Ниша почти пустая.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1EC"/>
          </a:solidFill>
          <a:ln/>
        </p:spPr>
      </p:sp>
      <p:sp>
        <p:nvSpPr>
          <p:cNvPr id="3" name="Shape 1"/>
          <p:cNvSpPr/>
          <p:nvPr/>
        </p:nvSpPr>
        <p:spPr>
          <a:xfrm>
            <a:off x="502920" y="292608"/>
            <a:ext cx="164592" cy="164592"/>
          </a:xfrm>
          <a:prstGeom prst="ellipse">
            <a:avLst/>
          </a:prstGeom>
          <a:solidFill>
            <a:srgbClr val="FF6700"/>
          </a:solidFill>
          <a:ln w="12700">
            <a:solidFill>
              <a:srgbClr val="FF67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7240" y="237744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1412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SEJIRE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8412480" y="256032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55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Investor deck · 2026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40080" y="91440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6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· BEACHHEAD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1280160"/>
            <a:ext cx="10058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12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Казахстан — не пивот.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1412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Это оружие.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640080" y="2651760"/>
            <a:ext cx="5394960" cy="1325880"/>
          </a:xfrm>
          <a:prstGeom prst="rect">
            <a:avLst/>
          </a:prstGeom>
          <a:solidFill>
            <a:srgbClr val="EBE7DF"/>
          </a:solidFill>
          <a:ln/>
        </p:spPr>
      </p:sp>
      <p:sp>
        <p:nvSpPr>
          <p:cNvPr id="9" name="Shape 7"/>
          <p:cNvSpPr/>
          <p:nvPr/>
        </p:nvSpPr>
        <p:spPr>
          <a:xfrm>
            <a:off x="640080" y="2651760"/>
            <a:ext cx="73152" cy="1325880"/>
          </a:xfrm>
          <a:prstGeom prst="rect">
            <a:avLst/>
          </a:prstGeom>
          <a:solidFill>
            <a:srgbClr val="FF6700"/>
          </a:solidFill>
          <a:ln/>
        </p:spPr>
      </p:sp>
      <p:sp>
        <p:nvSpPr>
          <p:cNvPr id="10" name="Text 8"/>
          <p:cNvSpPr/>
          <p:nvPr/>
        </p:nvSpPr>
        <p:spPr>
          <a:xfrm>
            <a:off x="960120" y="288036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2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Культура уже куплена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60120" y="3291840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55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Жеті ата — норма. Не надо продавать «зачем знать предков».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309360" y="2651760"/>
            <a:ext cx="5394960" cy="1325880"/>
          </a:xfrm>
          <a:prstGeom prst="rect">
            <a:avLst/>
          </a:prstGeom>
          <a:solidFill>
            <a:srgbClr val="EBE7DF"/>
          </a:solidFill>
          <a:ln/>
        </p:spPr>
      </p:sp>
      <p:sp>
        <p:nvSpPr>
          <p:cNvPr id="13" name="Shape 11"/>
          <p:cNvSpPr/>
          <p:nvPr/>
        </p:nvSpPr>
        <p:spPr>
          <a:xfrm>
            <a:off x="6309360" y="2651760"/>
            <a:ext cx="73152" cy="1325880"/>
          </a:xfrm>
          <a:prstGeom prst="rect">
            <a:avLst/>
          </a:prstGeom>
          <a:solidFill>
            <a:srgbClr val="FF6700"/>
          </a:solidFill>
          <a:ln/>
        </p:spPr>
      </p:sp>
      <p:sp>
        <p:nvSpPr>
          <p:cNvPr id="14" name="Text 12"/>
          <p:cNvSpPr/>
          <p:nvPr/>
        </p:nvSpPr>
        <p:spPr>
          <a:xfrm>
            <a:off x="6629400" y="288036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2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Вирусность рода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629400" y="3291840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55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Один PDF в семейный чат = органический рост без CAC-лекции.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" y="4206240"/>
            <a:ext cx="5394960" cy="1325880"/>
          </a:xfrm>
          <a:prstGeom prst="rect">
            <a:avLst/>
          </a:prstGeom>
          <a:solidFill>
            <a:srgbClr val="EBE7DF"/>
          </a:solidFill>
          <a:ln/>
        </p:spPr>
      </p:sp>
      <p:sp>
        <p:nvSpPr>
          <p:cNvPr id="17" name="Shape 15"/>
          <p:cNvSpPr/>
          <p:nvPr/>
        </p:nvSpPr>
        <p:spPr>
          <a:xfrm>
            <a:off x="640080" y="4206240"/>
            <a:ext cx="73152" cy="1325880"/>
          </a:xfrm>
          <a:prstGeom prst="rect">
            <a:avLst/>
          </a:prstGeom>
          <a:solidFill>
            <a:srgbClr val="FF6700"/>
          </a:solidFill>
          <a:ln/>
        </p:spPr>
      </p:sp>
      <p:sp>
        <p:nvSpPr>
          <p:cNvPr id="18" name="Text 16"/>
          <p:cNvSpPr/>
          <p:nvPr/>
        </p:nvSpPr>
        <p:spPr>
          <a:xfrm>
            <a:off x="960120" y="443484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2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Web3 без боли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60120" y="4846320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55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Бесплатный слой снимает страх. Вечность — тихий апселл.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309360" y="4206240"/>
            <a:ext cx="5394960" cy="1325880"/>
          </a:xfrm>
          <a:prstGeom prst="rect">
            <a:avLst/>
          </a:prstGeom>
          <a:solidFill>
            <a:srgbClr val="EBE7DF"/>
          </a:solidFill>
          <a:ln/>
        </p:spPr>
      </p:sp>
      <p:sp>
        <p:nvSpPr>
          <p:cNvPr id="21" name="Shape 19"/>
          <p:cNvSpPr/>
          <p:nvPr/>
        </p:nvSpPr>
        <p:spPr>
          <a:xfrm>
            <a:off x="6309360" y="4206240"/>
            <a:ext cx="73152" cy="1325880"/>
          </a:xfrm>
          <a:prstGeom prst="rect">
            <a:avLst/>
          </a:prstGeom>
          <a:solidFill>
            <a:srgbClr val="FF6700"/>
          </a:solidFill>
          <a:ln/>
        </p:spPr>
      </p:sp>
      <p:sp>
        <p:nvSpPr>
          <p:cNvPr id="22" name="Text 20"/>
          <p:cNvSpPr/>
          <p:nvPr/>
        </p:nvSpPr>
        <p:spPr>
          <a:xfrm>
            <a:off x="6629400" y="443484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2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Имя уже наше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629400" y="4846320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55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sejire на ArNS. Канон: sejire.ar.io.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1A17"/>
          </a:solidFill>
          <a:ln/>
        </p:spPr>
      </p:sp>
      <p:sp>
        <p:nvSpPr>
          <p:cNvPr id="3" name="Shape 1"/>
          <p:cNvSpPr/>
          <p:nvPr/>
        </p:nvSpPr>
        <p:spPr>
          <a:xfrm>
            <a:off x="502920" y="292608"/>
            <a:ext cx="164592" cy="164592"/>
          </a:xfrm>
          <a:prstGeom prst="ellipse">
            <a:avLst/>
          </a:prstGeom>
          <a:solidFill>
            <a:srgbClr val="FF6700"/>
          </a:solidFill>
          <a:ln w="12700">
            <a:solidFill>
              <a:srgbClr val="FF67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7240" y="237744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SEJIRE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8412480" y="256032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8B0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Investor deck · 2026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40080" y="91440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6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 · GO-TO-MARKET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137160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KZ → пояс → мир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640080" y="2286000"/>
            <a:ext cx="10881360" cy="1051560"/>
          </a:xfrm>
          <a:prstGeom prst="rect">
            <a:avLst/>
          </a:prstGeom>
          <a:solidFill>
            <a:srgbClr val="2A2622"/>
          </a:solidFill>
          <a:ln w="12700">
            <a:solidFill>
              <a:srgbClr val="3A342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256032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6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2011680" y="2468880"/>
            <a:ext cx="8961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Казахстан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2011680" y="2834640"/>
            <a:ext cx="8961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8B0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Жеті ата, PDF на той, каз/рус, родовые сообщества, Kaspi.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40080" y="3520440"/>
            <a:ext cx="10881360" cy="1051560"/>
          </a:xfrm>
          <a:prstGeom prst="rect">
            <a:avLst/>
          </a:prstGeom>
          <a:solidFill>
            <a:srgbClr val="2A2622"/>
          </a:solidFill>
          <a:ln w="12700">
            <a:solidFill>
              <a:srgbClr val="3A342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8680" y="379476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6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II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2011680" y="3703320"/>
            <a:ext cx="8961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СНГ / тюркский пояс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2011680" y="4069080"/>
            <a:ext cx="8961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8B0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 же традиция семи колен — Кыргызстан, Узбекистан и соседи.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40080" y="4754880"/>
            <a:ext cx="10881360" cy="1051560"/>
          </a:xfrm>
          <a:prstGeom prst="rect">
            <a:avLst/>
          </a:prstGeom>
          <a:solidFill>
            <a:srgbClr val="2A2622"/>
          </a:solidFill>
          <a:ln w="12700">
            <a:solidFill>
              <a:srgbClr val="3A342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8680" y="502920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6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III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2011680" y="4937760"/>
            <a:ext cx="8961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Мир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2011680" y="5303520"/>
            <a:ext cx="8961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8B0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«Eternal family vault» для диаспор и всех, кто устал от подписок.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1EC"/>
          </a:solidFill>
          <a:ln/>
        </p:spPr>
      </p:sp>
      <p:sp>
        <p:nvSpPr>
          <p:cNvPr id="3" name="Shape 1"/>
          <p:cNvSpPr/>
          <p:nvPr/>
        </p:nvSpPr>
        <p:spPr>
          <a:xfrm>
            <a:off x="502920" y="292608"/>
            <a:ext cx="164592" cy="164592"/>
          </a:xfrm>
          <a:prstGeom prst="ellipse">
            <a:avLst/>
          </a:prstGeom>
          <a:solidFill>
            <a:srgbClr val="FF6700"/>
          </a:solidFill>
          <a:ln w="12700">
            <a:solidFill>
              <a:srgbClr val="FF67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7240" y="237744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1412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SEJIRE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8412480" y="256032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55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Investor deck · 2026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40080" y="91440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6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· TRACTION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1280160"/>
            <a:ext cx="10058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12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MVP уже онлайн.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1412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 слайд — продукт.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640080" y="2743200"/>
            <a:ext cx="3520440" cy="2194560"/>
          </a:xfrm>
          <a:prstGeom prst="rect">
            <a:avLst/>
          </a:prstGeom>
          <a:solidFill>
            <a:srgbClr val="EBE7DF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297180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6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68680" y="3474720"/>
            <a:ext cx="30175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55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Древо, автосейв, PDF, орнаментальное шежіре, JSON, шифр-пайплайн.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389120" y="2743200"/>
            <a:ext cx="3520440" cy="2194560"/>
          </a:xfrm>
          <a:prstGeom prst="rect">
            <a:avLst/>
          </a:prstGeom>
          <a:solidFill>
            <a:srgbClr val="EBE7DF"/>
          </a:solidFill>
          <a:ln/>
        </p:spPr>
      </p:sp>
      <p:sp>
        <p:nvSpPr>
          <p:cNvPr id="12" name="Text 10"/>
          <p:cNvSpPr/>
          <p:nvPr/>
        </p:nvSpPr>
        <p:spPr>
          <a:xfrm>
            <a:off x="4617720" y="297180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6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Стек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617720" y="3474720"/>
            <a:ext cx="30175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55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· Vite · BIP-39 · AES-GCM · Arweave/Turbo · jsPDF · ArNS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138160" y="2743200"/>
            <a:ext cx="3520440" cy="2194560"/>
          </a:xfrm>
          <a:prstGeom prst="rect">
            <a:avLst/>
          </a:prstGeom>
          <a:solidFill>
            <a:srgbClr val="141210"/>
          </a:solidFill>
          <a:ln/>
        </p:spPr>
      </p:sp>
      <p:sp>
        <p:nvSpPr>
          <p:cNvPr id="15" name="Text 13"/>
          <p:cNvSpPr/>
          <p:nvPr/>
        </p:nvSpPr>
        <p:spPr>
          <a:xfrm>
            <a:off x="8366760" y="297180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6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Следом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8366760" y="3474720"/>
            <a:ext cx="30175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8B0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Kaspi $3 · казна Turbo · сайт на permaweb · sejire.ar.io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40080" y="53035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6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azovskaya.github.io/Sejire_arweave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6700"/>
          </a:solidFill>
          <a:ln/>
        </p:spPr>
      </p:sp>
      <p:sp>
        <p:nvSpPr>
          <p:cNvPr id="3" name="Shape 1"/>
          <p:cNvSpPr/>
          <p:nvPr/>
        </p:nvSpPr>
        <p:spPr>
          <a:xfrm>
            <a:off x="502920" y="292608"/>
            <a:ext cx="164592" cy="164592"/>
          </a:xfrm>
          <a:prstGeom prst="ellipse">
            <a:avLst/>
          </a:prstGeom>
          <a:solidFill>
            <a:srgbClr val="FF6700"/>
          </a:solidFill>
          <a:ln w="12700">
            <a:solidFill>
              <a:srgbClr val="FF67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7240" y="237744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SEJIRE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8412480" y="256032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E8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Investor deck · 2026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40080" y="10058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· ASK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1463040"/>
            <a:ext cx="10058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Ускоряем три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удара.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640080" y="320040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E8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554480" y="320040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Оплата ~$3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554480" y="352044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Kaspi / мерчант + казна Turbo — вечность без токенов у семьи.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0080" y="416052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E8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554480" y="416052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Permaweb + ArNS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554480" y="448056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SEJIRE на Arweave. Канон: sejire.ar.io.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0080" y="512064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E8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554480" y="51206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Рост в KZ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554480" y="544068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Контент, пилоты с родами, первые тысячи древьев и первые сейфы.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1A17"/>
          </a:solidFill>
          <a:ln/>
        </p:spPr>
      </p:sp>
      <p:sp>
        <p:nvSpPr>
          <p:cNvPr id="3" name="Shape 1"/>
          <p:cNvSpPr/>
          <p:nvPr/>
        </p:nvSpPr>
        <p:spPr>
          <a:xfrm>
            <a:off x="502920" y="292608"/>
            <a:ext cx="164592" cy="164592"/>
          </a:xfrm>
          <a:prstGeom prst="ellipse">
            <a:avLst/>
          </a:prstGeom>
          <a:solidFill>
            <a:srgbClr val="FF6700"/>
          </a:solidFill>
          <a:ln w="12700">
            <a:solidFill>
              <a:srgbClr val="FF67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7240" y="237744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SEJIRE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8412480" y="256032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8B0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Investor deck · 2026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40080" y="13716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F6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SEJIRE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1920240"/>
            <a:ext cx="100584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Сначала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бесплатно.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Потом —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навсегда.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640080" y="466344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8B0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Создать. Сохранить. Отправить. Распечатать.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B8B0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 когда нужно — закрепить род в Arweave.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0080" y="57607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6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MVP  ·  azovskaya.github.io/Sejire_arweave  ·  sejire.ar.io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SEJIRE — Investor Deck</dc:title>
  <dc:subject>Сначала бесплатно. Потом — навсегда.</dc:subject>
  <dc:creator>SEJIRE</dc:creator>
  <cp:lastModifiedBy>SEJIRE</cp:lastModifiedBy>
  <cp:revision>1</cp:revision>
  <dcterms:created xsi:type="dcterms:W3CDTF">2026-08-04T12:44:31Z</dcterms:created>
  <dcterms:modified xsi:type="dcterms:W3CDTF">2026-08-04T12:44:31Z</dcterms:modified>
</cp:coreProperties>
</file>